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2D"/>
          </a:solidFill>
          <a:ln>
            <a:solidFill>
              <a:srgbClr val="0F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75488"/>
            <a:ext cx="109728" cy="4892040"/>
          </a:xfrm>
          <a:prstGeom prst="rect">
            <a:avLst/>
          </a:prstGeom>
          <a:solidFill>
            <a:srgbClr val="00768A"/>
          </a:solidFill>
          <a:ln>
            <a:solidFill>
              <a:srgbClr val="007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21792"/>
            <a:ext cx="1325880" cy="292608"/>
          </a:xfrm>
          <a:prstGeom prst="roundRect">
            <a:avLst/>
          </a:prstGeom>
          <a:solidFill>
            <a:srgbClr val="00768A"/>
          </a:solidFill>
          <a:ln>
            <a:solidFill>
              <a:srgbClr val="007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690372"/>
            <a:ext cx="121615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70432"/>
            <a:ext cx="71323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Agent A</a:t>
            </a:r>
            <a:br/>
            <a:r>
              <a:t>Auditor con RAG + LLM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78608"/>
            <a:ext cx="64922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DAE4ED"/>
                </a:solidFill>
              </a:defRPr>
            </a:pPr>
            <a:r>
              <a:t>Segunda linea automatizada con politicas vectorizadas, Ollama local, reglas duras y trazabilidad.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40480"/>
            <a:ext cx="1737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950208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606E7C"/>
                </a:solidFill>
              </a:defRPr>
            </a:pPr>
            <a:r>
              <a:t>CASOS AUDITADOS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51376"/>
            <a:ext cx="1417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24946E"/>
                </a:solidFill>
              </a:defRPr>
            </a:pPr>
            <a:r>
              <a:t>4/4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3840480"/>
            <a:ext cx="1737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3950208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606E7C"/>
                </a:solidFill>
              </a:defRPr>
            </a:pPr>
            <a:r>
              <a:t>HALLAZGOS CRITICOS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151376"/>
            <a:ext cx="1417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C64046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3840480"/>
            <a:ext cx="1737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3950208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606E7C"/>
                </a:solidFill>
              </a:defRPr>
            </a:pPr>
            <a:r>
              <a:t>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1" y="4151376"/>
            <a:ext cx="1417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00768A"/>
                </a:solidFill>
              </a:defRPr>
            </a:pPr>
            <a:r>
              <a:t>Vectorial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840480"/>
            <a:ext cx="1737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3950208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750" b="1">
                <a:solidFill>
                  <a:srgbClr val="606E7C"/>
                </a:solidFill>
              </a:defRPr>
            </a:pPr>
            <a: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4151376"/>
            <a:ext cx="1417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E2972C"/>
                </a:solidFill>
              </a:defRPr>
            </a:pPr>
            <a:r>
              <a:t>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144768"/>
            <a:ext cx="6217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BECCD8"/>
                </a:solidFill>
              </a:defRPr>
            </a:pPr>
            <a:r>
              <a:t>Embeddings reales + LangGraph + Ollama + controles auditables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0F202D"/>
                </a:solidFill>
              </a:defRPr>
            </a:pPr>
            <a:r>
              <a:t>Arquitectura del agente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606E7C"/>
                </a:solidFill>
              </a:defRPr>
            </a:pPr>
            <a:r>
              <a:t>Flujo simple, vectorial y gobernable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08760"/>
            <a:ext cx="1417320" cy="822960"/>
          </a:xfrm>
          <a:prstGeom prst="roundRect">
            <a:avLst/>
          </a:prstGeom>
          <a:solidFill>
            <a:srgbClr val="00768A"/>
          </a:solidFill>
          <a:ln>
            <a:solidFill>
              <a:srgbClr val="007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627631"/>
            <a:ext cx="119786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892807"/>
            <a:ext cx="1197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0">
                <a:solidFill>
                  <a:srgbClr val="FFFFFF"/>
                </a:solidFill>
              </a:defRPr>
            </a:pPr>
            <a:r>
              <a:t>Caso + decision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01368" y="1828800"/>
            <a:ext cx="384048" cy="164592"/>
          </a:xfrm>
          <a:prstGeom prst="rightArrow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83080" y="1508760"/>
            <a:ext cx="1417320" cy="822960"/>
          </a:xfrm>
          <a:prstGeom prst="round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7" y="1627631"/>
            <a:ext cx="119786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1892807"/>
            <a:ext cx="1197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0">
                <a:solidFill>
                  <a:srgbClr val="FFFFFF"/>
                </a:solidFill>
              </a:defRPr>
            </a:pPr>
            <a:r>
              <a:t>Vector index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64408" y="1828800"/>
            <a:ext cx="384048" cy="164592"/>
          </a:xfrm>
          <a:prstGeom prst="rightArrow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1508760"/>
            <a:ext cx="1417320" cy="822960"/>
          </a:xfrm>
          <a:prstGeom prst="round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627631"/>
            <a:ext cx="119786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92807"/>
            <a:ext cx="1197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0">
                <a:solidFill>
                  <a:srgbClr val="FFFFFF"/>
                </a:solidFill>
              </a:defRPr>
            </a:pPr>
            <a:r>
              <a:t>JSON estructurado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27448" y="1828800"/>
            <a:ext cx="384048" cy="164592"/>
          </a:xfrm>
          <a:prstGeom prst="rightArrow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1508760"/>
            <a:ext cx="1417320" cy="822960"/>
          </a:xfrm>
          <a:prstGeom prst="roundRect">
            <a:avLst/>
          </a:prstGeom>
          <a:solidFill>
            <a:srgbClr val="0F202D"/>
          </a:solidFill>
          <a:ln>
            <a:solidFill>
              <a:srgbClr val="0F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1627631"/>
            <a:ext cx="119786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Reglas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892807"/>
            <a:ext cx="1197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0">
                <a:solidFill>
                  <a:srgbClr val="FFFFFF"/>
                </a:solidFill>
              </a:defRPr>
            </a:pPr>
            <a:r>
              <a:t>Controles duros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90488" y="1828800"/>
            <a:ext cx="384048" cy="164592"/>
          </a:xfrm>
          <a:prstGeom prst="rightArrow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1508760"/>
            <a:ext cx="1417320" cy="822960"/>
          </a:xfrm>
          <a:prstGeom prst="round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1627631"/>
            <a:ext cx="119786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1892807"/>
            <a:ext cx="1197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0">
                <a:solidFill>
                  <a:srgbClr val="FFFFFF"/>
                </a:solidFill>
              </a:defRPr>
            </a:pPr>
            <a:r>
              <a:t>Bloquear/escalar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63240"/>
            <a:ext cx="8001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10128"/>
            <a:ext cx="3291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0F202D"/>
                </a:solidFill>
              </a:defRPr>
            </a:pPr>
            <a:r>
              <a:t>Indice de Fidelidad Analitica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3831335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3776472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Alineacion de accion: 35%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270247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4215383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Cumplimiento numerico: 25%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4709159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4654296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Controles criticos: 20%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" y="5148072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5093208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Consistencia RAG vectorial: 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310128"/>
            <a:ext cx="33375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0F202D"/>
                </a:solidFill>
              </a:defRPr>
            </a:pPr>
            <a:r>
              <a:t>Por que es defendible</a:t>
            </a:r>
          </a:p>
        </p:txBody>
      </p:sp>
      <p:sp>
        <p:nvSpPr>
          <p:cNvPr id="34" name="Oval 33"/>
          <p:cNvSpPr/>
          <p:nvPr/>
        </p:nvSpPr>
        <p:spPr>
          <a:xfrm>
            <a:off x="4663440" y="3831335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7" y="3776472"/>
            <a:ext cx="3429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LLM local no decide solo: extrae accion.</a:t>
            </a:r>
          </a:p>
        </p:txBody>
      </p:sp>
      <p:sp>
        <p:nvSpPr>
          <p:cNvPr id="36" name="Oval 35"/>
          <p:cNvSpPr/>
          <p:nvPr/>
        </p:nvSpPr>
        <p:spPr>
          <a:xfrm>
            <a:off x="4663440" y="4270247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7" y="4215383"/>
            <a:ext cx="3429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RAG aporta politicas y fuentes.</a:t>
            </a:r>
          </a:p>
        </p:txBody>
      </p:sp>
      <p:sp>
        <p:nvSpPr>
          <p:cNvPr id="38" name="Oval 37"/>
          <p:cNvSpPr/>
          <p:nvPr/>
        </p:nvSpPr>
        <p:spPr>
          <a:xfrm>
            <a:off x="4663440" y="4709159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4607" y="4654296"/>
            <a:ext cx="3429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Reglas duras calculan conformidad.</a:t>
            </a:r>
          </a:p>
        </p:txBody>
      </p:sp>
      <p:sp>
        <p:nvSpPr>
          <p:cNvPr id="40" name="Oval 39"/>
          <p:cNvSpPr/>
          <p:nvPr/>
        </p:nvSpPr>
        <p:spPr>
          <a:xfrm>
            <a:off x="4663440" y="5148072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7" y="5093208"/>
            <a:ext cx="3429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Reporte JSON listo para auditoria.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606E7C"/>
                </a:solidFill>
              </a:defRPr>
            </a:pPr>
            <a:r>
              <a:t>Agent A | Comite de Riesgos y Tecnologia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1">
                <a:solidFill>
                  <a:srgbClr val="606E7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0F202D"/>
                </a:solidFill>
              </a:defRPr>
            </a:pPr>
            <a:r>
              <a:t>Resultados sobre los 4 casos del 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606E7C"/>
                </a:solidFill>
              </a:defRPr>
            </a:pPr>
            <a:r>
              <a:t>Dos decisiones conformes y dos hallazgos de alto impacto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737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627632"/>
            <a:ext cx="749808" cy="292608"/>
          </a:xfrm>
          <a:prstGeom prst="round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96212"/>
            <a:ext cx="6400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CASO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11680"/>
            <a:ext cx="13533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F202D"/>
                </a:solidFill>
              </a:defRPr>
            </a:pPr>
            <a:r>
              <a:t>Auto cristales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78608"/>
            <a:ext cx="135331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24946E"/>
                </a:solidFill>
              </a:defRPr>
            </a:pPr>
            <a:r>
              <a:t>93.12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44952"/>
            <a:ext cx="13533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606E7C"/>
                </a:solidFill>
              </a:defRPr>
            </a:pPr>
            <a:r>
              <a:t>Indice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584448"/>
            <a:ext cx="1143000" cy="1463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" y="3584448"/>
            <a:ext cx="1064361" cy="146304"/>
          </a:xfrm>
          <a:prstGeom prst="roundRect">
            <a:avLst/>
          </a:prstGeom>
          <a:solidFill>
            <a:srgbClr val="249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68496"/>
            <a:ext cx="13533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24946E"/>
                </a:solidFill>
              </a:defRPr>
            </a:pPr>
            <a:r>
              <a:t>Conforme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417320"/>
            <a:ext cx="1737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07792" y="1627632"/>
            <a:ext cx="749808" cy="292608"/>
          </a:xfrm>
          <a:prstGeom prst="round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696212"/>
            <a:ext cx="6400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CASO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011680"/>
            <a:ext cx="13533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F202D"/>
                </a:solidFill>
              </a:defRPr>
            </a:pPr>
            <a:r>
              <a:t>Abuso siniestros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578608"/>
            <a:ext cx="135331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24946E"/>
                </a:solidFill>
              </a:defRPr>
            </a:pPr>
            <a:r>
              <a:t>93.18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044952"/>
            <a:ext cx="13533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606E7C"/>
                </a:solidFill>
              </a:defRPr>
            </a:pPr>
            <a:r>
              <a:t>Indice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35808" y="3584448"/>
            <a:ext cx="1143000" cy="1463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35808" y="3584448"/>
            <a:ext cx="1065047" cy="146304"/>
          </a:xfrm>
          <a:prstGeom prst="roundRect">
            <a:avLst/>
          </a:prstGeom>
          <a:solidFill>
            <a:srgbClr val="249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3968496"/>
            <a:ext cx="13533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24946E"/>
                </a:solidFill>
              </a:defRPr>
            </a:pPr>
            <a:r>
              <a:t>Escalado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417320"/>
            <a:ext cx="1737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65192" y="1627632"/>
            <a:ext cx="749808" cy="292608"/>
          </a:xfrm>
          <a:prstGeom prst="round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0055" y="1696212"/>
            <a:ext cx="6400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CASO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2011680"/>
            <a:ext cx="13533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F202D"/>
                </a:solidFill>
              </a:defRPr>
            </a:pPr>
            <a:r>
              <a:t>Vida &gt; limite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2578608"/>
            <a:ext cx="135331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E2972C"/>
                </a:solidFill>
              </a:defRPr>
            </a:pPr>
            <a:r>
              <a:t>21.00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044952"/>
            <a:ext cx="13533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606E7C"/>
                </a:solidFill>
              </a:defRPr>
            </a:pPr>
            <a:r>
              <a:t>Indice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3208" y="3584448"/>
            <a:ext cx="1143000" cy="1463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93208" y="3584448"/>
            <a:ext cx="240030" cy="146304"/>
          </a:xfrm>
          <a:prstGeom prst="roundRect">
            <a:avLst/>
          </a:prstGeom>
          <a:solidFill>
            <a:srgbClr val="E29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5192" y="3968496"/>
            <a:ext cx="13533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E2972C"/>
                </a:solidFill>
              </a:defRPr>
            </a:pPr>
            <a:r>
              <a:t>No conforme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1417320"/>
            <a:ext cx="17373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22592" y="1627632"/>
            <a:ext cx="749808" cy="292608"/>
          </a:xfrm>
          <a:prstGeom prst="round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77455" y="1696212"/>
            <a:ext cx="6400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CASO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011680"/>
            <a:ext cx="1353312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F202D"/>
                </a:solidFill>
              </a:defRPr>
            </a:pPr>
            <a:r>
              <a:t>SARLAFT/AML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2578608"/>
            <a:ext cx="135331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C64046"/>
                </a:solidFill>
              </a:defRPr>
            </a:pPr>
            <a:r>
              <a:t>34.38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044952"/>
            <a:ext cx="135331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606E7C"/>
                </a:solidFill>
              </a:defRPr>
            </a:pPr>
            <a:r>
              <a:t>Indice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50608" y="3584448"/>
            <a:ext cx="1143000" cy="1463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50608" y="3584448"/>
            <a:ext cx="392963" cy="146304"/>
          </a:xfrm>
          <a:prstGeom prst="roundRect">
            <a:avLst/>
          </a:prstGeom>
          <a:solidFill>
            <a:srgbClr val="C64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3968496"/>
            <a:ext cx="1353312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C64046"/>
                </a:solidFill>
              </a:defRPr>
            </a:pPr>
            <a:r>
              <a:t>Bloqueo critico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5257800"/>
            <a:ext cx="7635240" cy="621792"/>
          </a:xfrm>
          <a:prstGeom prst="roundRect">
            <a:avLst/>
          </a:prstGeom>
          <a:solidFill>
            <a:srgbClr val="0F202D"/>
          </a:solidFill>
          <a:ln>
            <a:solidFill>
              <a:srgbClr val="0F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422392"/>
            <a:ext cx="71780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Lectura ejecutiva: el agente conserva velocidad en casos seguros y detiene desviaciones de limite, abuso o cumplimiento.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606E7C"/>
                </a:solidFill>
              </a:defRPr>
            </a:pPr>
            <a:r>
              <a:t>Agent A | Comite de Riesgos y Tecnologia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1">
                <a:solidFill>
                  <a:srgbClr val="606E7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0F202D"/>
                </a:solidFill>
              </a:defRPr>
            </a:pPr>
            <a:r>
              <a:t>Mapa de riesgo y respuesta operativa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606E7C"/>
                </a:solidFill>
              </a:defRPr>
            </a:pPr>
            <a:r>
              <a:t>Priorizacion para Riesgos, Tecnologia y Cumplimiento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417320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64792" y="1417320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78024" y="1417320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1256" y="1417320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04487" y="1417320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130552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64792" y="2130552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78024" y="2130552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1256" y="2130552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04487" y="2130552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2843784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4792" y="2843784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8024" y="2843784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91256" y="2843784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04487" y="2843784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3557015"/>
            <a:ext cx="685800" cy="685800"/>
          </a:xfrm>
          <a:prstGeom prst="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64792" y="3557015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78024" y="3557015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91256" y="3557015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4487" y="3557015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4270248"/>
            <a:ext cx="685800" cy="685800"/>
          </a:xfrm>
          <a:prstGeom prst="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64792" y="4270248"/>
            <a:ext cx="685800" cy="685800"/>
          </a:xfrm>
          <a:prstGeom prst="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78024" y="4270248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91256" y="4270248"/>
            <a:ext cx="685800" cy="685800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04487" y="4270248"/>
            <a:ext cx="685800" cy="685800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138928"/>
            <a:ext cx="35661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1">
                <a:solidFill>
                  <a:srgbClr val="606E7C"/>
                </a:solidFill>
              </a:defRPr>
            </a:pPr>
            <a:r>
              <a:t>Probabilidad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" y="2880360"/>
            <a:ext cx="38404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00" b="1">
                <a:solidFill>
                  <a:srgbClr val="606E7C"/>
                </a:solidFill>
              </a:defRPr>
            </a:pPr>
            <a:r>
              <a:t>Impacto</a:t>
            </a:r>
          </a:p>
        </p:txBody>
      </p:sp>
      <p:sp>
        <p:nvSpPr>
          <p:cNvPr id="31" name="Oval 30"/>
          <p:cNvSpPr/>
          <p:nvPr/>
        </p:nvSpPr>
        <p:spPr>
          <a:xfrm>
            <a:off x="1417320" y="416052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35608" y="4215383"/>
            <a:ext cx="265176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24946E"/>
                </a:solidFill>
              </a:defRPr>
            </a:pPr>
            <a:r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2148840" y="34564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67128" y="3511296"/>
            <a:ext cx="265176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24946E"/>
                </a:solidFill>
              </a:defRPr>
            </a:pPr>
            <a:r>
              <a:t>2</a:t>
            </a:r>
          </a:p>
        </p:txBody>
      </p:sp>
      <p:sp>
        <p:nvSpPr>
          <p:cNvPr id="35" name="Oval 34"/>
          <p:cNvSpPr/>
          <p:nvPr/>
        </p:nvSpPr>
        <p:spPr>
          <a:xfrm>
            <a:off x="2871216" y="27249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9504" y="2779776"/>
            <a:ext cx="265176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E2972C"/>
                </a:solidFill>
              </a:defRPr>
            </a:pPr>
            <a:r>
              <a:t>3</a:t>
            </a:r>
          </a:p>
        </p:txBody>
      </p:sp>
      <p:sp>
        <p:nvSpPr>
          <p:cNvPr id="37" name="Oval 36"/>
          <p:cNvSpPr/>
          <p:nvPr/>
        </p:nvSpPr>
        <p:spPr>
          <a:xfrm>
            <a:off x="4297680" y="1618488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1673352"/>
            <a:ext cx="265176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1">
                <a:solidFill>
                  <a:srgbClr val="C64046"/>
                </a:solidFill>
              </a:defRPr>
            </a:pPr>
            <a: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1444752"/>
            <a:ext cx="3246120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1700784"/>
            <a:ext cx="2697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0F202D"/>
                </a:solidFill>
              </a:defRPr>
            </a:pPr>
            <a:r>
              <a:t>Acciones recomendadas</a:t>
            </a:r>
          </a:p>
        </p:txBody>
      </p:sp>
      <p:sp>
        <p:nvSpPr>
          <p:cNvPr id="41" name="Oval 40"/>
          <p:cNvSpPr/>
          <p:nvPr/>
        </p:nvSpPr>
        <p:spPr>
          <a:xfrm>
            <a:off x="5440680" y="2231136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41848" y="2176272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Aprobar solo cuando indice &gt;= umbral.</a:t>
            </a:r>
          </a:p>
        </p:txBody>
      </p:sp>
      <p:sp>
        <p:nvSpPr>
          <p:cNvPr id="43" name="Oval 42"/>
          <p:cNvSpPr/>
          <p:nvPr/>
        </p:nvSpPr>
        <p:spPr>
          <a:xfrm>
            <a:off x="5440680" y="2670048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1848" y="2615184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Escalar desviaciones de limite o abuso.</a:t>
            </a:r>
          </a:p>
        </p:txBody>
      </p:sp>
      <p:sp>
        <p:nvSpPr>
          <p:cNvPr id="45" name="Oval 44"/>
          <p:cNvSpPr/>
          <p:nvPr/>
        </p:nvSpPr>
        <p:spPr>
          <a:xfrm>
            <a:off x="5440680" y="3108960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1848" y="3054096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Bloquear alertas AML/SARLAFT.</a:t>
            </a:r>
          </a:p>
        </p:txBody>
      </p:sp>
      <p:sp>
        <p:nvSpPr>
          <p:cNvPr id="47" name="Oval 46"/>
          <p:cNvSpPr/>
          <p:nvPr/>
        </p:nvSpPr>
        <p:spPr>
          <a:xfrm>
            <a:off x="5440680" y="3547872"/>
            <a:ext cx="91440" cy="91440"/>
          </a:xfrm>
          <a:prstGeom prst="ellipse">
            <a:avLst/>
          </a:prstGeom>
          <a:solidFill>
            <a:srgbClr val="007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41848" y="3493008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232D37"/>
                </a:solidFill>
              </a:defRPr>
            </a:pPr>
            <a:r>
              <a:t>Registrar evidencia para auditoria posterior.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606E7C"/>
                </a:solidFill>
              </a:defRPr>
            </a:pPr>
            <a:r>
              <a:t>Agent A | Comite de Riesgos y Tecnologia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446520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1">
                <a:solidFill>
                  <a:srgbClr val="606E7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400" b="1">
                <a:solidFill>
                  <a:srgbClr val="0F202D"/>
                </a:solidFill>
              </a:defRPr>
            </a:pPr>
            <a:r>
              <a:t>Escalamiento cloud para miles de transacciones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50" b="0">
                <a:solidFill>
                  <a:srgbClr val="606E7C"/>
                </a:solidFill>
              </a:defRPr>
            </a:pPr>
            <a:r>
              <a:t>Patron recomendado para operacion en tiempo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7452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64592" cy="566928"/>
          </a:xfrm>
          <a:prstGeom prst="rect">
            <a:avLst/>
          </a:prstGeom>
          <a:solidFill>
            <a:srgbClr val="00768A"/>
          </a:solidFill>
          <a:ln>
            <a:solidFill>
              <a:srgbClr val="007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353312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F202D"/>
                </a:solidFill>
              </a:defRPr>
            </a:pPr>
            <a:r>
              <a:t>Canales digitales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53312"/>
            <a:ext cx="4892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232D37"/>
                </a:solidFill>
              </a:defRPr>
            </a:pPr>
            <a:r>
              <a:t>Web, app, WhatsApp, contact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75688"/>
            <a:ext cx="7452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75688"/>
            <a:ext cx="164592" cy="566928"/>
          </a:xfrm>
          <a:prstGeom prst="rect">
            <a:avLst/>
          </a:prstGeom>
          <a:solidFill>
            <a:srgbClr val="0F202D"/>
          </a:solidFill>
          <a:ln>
            <a:solidFill>
              <a:srgbClr val="0F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194560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F202D"/>
                </a:solidFill>
              </a:defRPr>
            </a:pPr>
            <a:r>
              <a:t>Agent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4892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232D37"/>
                </a:solidFill>
              </a:defRPr>
            </a:pPr>
            <a:r>
              <a:t>Decision preliminar y evidencia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16936"/>
            <a:ext cx="7452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16936"/>
            <a:ext cx="164592" cy="566928"/>
          </a:xfrm>
          <a:prstGeom prst="rect">
            <a:avLst/>
          </a:prstGeom>
          <a:solidFill>
            <a:srgbClr val="C64046"/>
          </a:solidFill>
          <a:ln>
            <a:solidFill>
              <a:srgbClr val="C6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035808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F202D"/>
                </a:solidFill>
              </a:defRPr>
            </a:pPr>
            <a:r>
              <a:t>Agent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35808"/>
            <a:ext cx="4892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232D37"/>
                </a:solidFill>
              </a:defRPr>
            </a:pPr>
            <a:r>
              <a:t>LangGraph + RAG vectorial + Ollama + reglas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58184"/>
            <a:ext cx="7452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758184"/>
            <a:ext cx="164592" cy="566928"/>
          </a:xfrm>
          <a:prstGeom prst="rect">
            <a:avLst/>
          </a:prstGeom>
          <a:solidFill>
            <a:srgbClr val="E2972C"/>
          </a:solidFill>
          <a:ln>
            <a:solidFill>
              <a:srgbClr val="E29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877056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F202D"/>
                </a:solidFill>
              </a:defRPr>
            </a:pPr>
            <a:r>
              <a:t>Event Bus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877056"/>
            <a:ext cx="4892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232D37"/>
                </a:solidFill>
              </a:defRPr>
            </a:pPr>
            <a:r>
              <a:t>Colas para monitoreo asincrono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99432"/>
            <a:ext cx="7452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599432"/>
            <a:ext cx="164592" cy="566928"/>
          </a:xfrm>
          <a:prstGeom prst="rect">
            <a:avLst/>
          </a:prstGeom>
          <a:solidFill>
            <a:srgbClr val="24946E"/>
          </a:solidFill>
          <a:ln>
            <a:solidFill>
              <a:srgbClr val="249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4718304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F202D"/>
                </a:solidFill>
              </a:defRPr>
            </a:pPr>
            <a:r>
              <a:t>Gobierno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718304"/>
            <a:ext cx="4892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232D37"/>
                </a:solidFill>
              </a:defRPr>
            </a:pPr>
            <a:r>
              <a:t>Vector store, reglas, observabilidad y tablero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715000"/>
            <a:ext cx="7452360" cy="420624"/>
          </a:xfrm>
          <a:prstGeom prst="roundRect">
            <a:avLst/>
          </a:prstGeom>
          <a:solidFill>
            <a:srgbClr val="0F202D"/>
          </a:solidFill>
          <a:ln>
            <a:solidFill>
              <a:srgbClr val="0F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824728"/>
            <a:ext cx="6995160" cy="1554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Resultado: control preventivo, explicable y escalable sin degradar la experiencia del cliente.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00" b="0">
                <a:solidFill>
                  <a:srgbClr val="606E7C"/>
                </a:solidFill>
              </a:defRPr>
            </a:pPr>
            <a:r>
              <a:t>Agent A | Comite de Riesgos y Tecnologia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46520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00" b="1">
                <a:solidFill>
                  <a:srgbClr val="606E7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